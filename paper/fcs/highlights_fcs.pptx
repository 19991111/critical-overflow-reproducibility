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7aa91b3f2b49c1" /><Relationship Type="http://schemas.openxmlformats.org/officeDocument/2006/relationships/extended-properties" Target="/docProps/app.xml" Id="R6cbbe6f9cb874999" /><Relationship Type="http://schemas.openxmlformats.org/officeDocument/2006/relationships/officeDocument" Target="/ppt/presentation.xml" Id="Rddbe8e168dc44fa2" /></Relationships>
</file>

<file path=ppt/presentation.xml><?xml version="1.0" encoding="utf-8"?>
<p:presentation xmlns:p="http://schemas.openxmlformats.org/presentationml/2006/main">
  <p:sldMasterIdLst>
    <p:sldMasterId xmlns:r="http://schemas.openxmlformats.org/officeDocument/2006/relationships" id="2147483648" r:id="R0420dcc294bb460c"/>
  </p:sldMasterIdLst>
  <p:notesMasterIdLst>
    <p:notesMasterId xmlns:r="http://schemas.openxmlformats.org/officeDocument/2006/relationships" r:id="R4d4bab2fe58f4f45"/>
  </p:notesMasterIdLst>
  <p:sldIdLst>
    <p:sldId xmlns:r="http://schemas.openxmlformats.org/officeDocument/2006/relationships" id="256" r:id="R207cd337ffe94ce6"/>
    <p:sldId xmlns:r="http://schemas.openxmlformats.org/officeDocument/2006/relationships" id="257" r:id="Rb65f8ce603fc4760"/>
    <p:sldId xmlns:r="http://schemas.openxmlformats.org/officeDocument/2006/relationships" id="258" r:id="R87b2a462989248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ca18994d04734" /><Relationship Type="http://schemas.openxmlformats.org/officeDocument/2006/relationships/slideMaster" Target="/ppt/slideMasters/slideMaster1.xml" Id="R0420dcc294bb460c" /><Relationship Type="http://schemas.openxmlformats.org/officeDocument/2006/relationships/notesMaster" Target="/ppt/notesMasters/notesMaster1.xml" Id="R4d4bab2fe58f4f45" /><Relationship Type="http://schemas.openxmlformats.org/officeDocument/2006/relationships/presProps" Target="/ppt/presProps.xml" Id="Rad6556ae588d4129" /><Relationship Type="http://schemas.openxmlformats.org/officeDocument/2006/relationships/tableStyles" Target="/ppt/tableStyles.xml" Id="R24c5edfd60984b0e" /><Relationship Type="http://schemas.openxmlformats.org/officeDocument/2006/relationships/slide" Target="/ppt/slides/slide1.xml" Id="R207cd337ffe94ce6" /><Relationship Type="http://schemas.openxmlformats.org/officeDocument/2006/relationships/slide" Target="/ppt/slides/slide2.xml" Id="Rb65f8ce603fc4760" /><Relationship Type="http://schemas.openxmlformats.org/officeDocument/2006/relationships/slide" Target="/ppt/slides/slide3.xml" Id="R87b2a462989248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f67bd76c2343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7c27cbffc24f10" /><Relationship Type="http://schemas.openxmlformats.org/officeDocument/2006/relationships/notesMaster" Target="/ppt/notesMasters/notesMaster1.xml" Id="R7eb79039787145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14ef37f57849dc" /><Relationship Type="http://schemas.openxmlformats.org/officeDocument/2006/relationships/notesMaster" Target="/ppt/notesMasters/notesMaster1.xml" Id="Rd36b1d18ee9447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d6d7f9055e4888" /><Relationship Type="http://schemas.openxmlformats.org/officeDocument/2006/relationships/notesMaster" Target="/ppt/notesMasters/notesMaster1.xml" Id="Rfcce223c68d746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main article, Introduction and Model and main results; Fig. 2 (model_scales). The model starts empty with two communities of q buckets, uniform complete-bipartite internal candidates, predetermined doubly stochastic cross kernels, and left-favored ties. The scaling is epsilon*q to lambda and 2*c_q/q to kappa. Corollary 2.4 identifies the positive leading internal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main article, Theorems 2.1-2.3, Corollaries 2.4-2.5, Numerical evaluation, and Fig. 1 (readout_teaser). The coefficient 0.6313 is the phase-zero, zero-imbalance limiting readout S_0(0). The figure uses 4096 saved endpoints at q=512, kappa=lambda=1 with matching crosses. It compares the profile and community-excess readouts at the same observed imbalance.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main article, Section 6.5, Table 2, Fig. 5 (topology_amplification), and Section 7.3. The ratios compare unconditional sample means of G_c/q, with G_c=Z_c-|Delta|/2 at critical fill. For q=512, kappa=lambda=1 and left ties, the complete-bipartite, cycle, and matching means are 0.3958110809326172, 2.3062000274658203, and 8.463871002197266. The displayed ratios round 5.826517090 and 21.383613067. Error bars in the source figure show twice Monte Carlo standard error conditional on the fixed graphs. The monitoring statement follows from the aggregation identity G_c=sum_s min(E_s,U_s).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7d14cb6cd848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26ce01b9da45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45d777312245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0d1af9fe5649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77e4f3042a4a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af82ce65f34a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5D3479-6823-4C7C-B0EB-32B8F471CD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51B75C-D625-43AC-A7B2-1B344A4707D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F071DB-A2EA-4654-BB5B-4A5A7CC2E5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73D63F-4CCB-4412-B33B-672AF4B8E8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89D524-D06D-4B03-90B1-28D76707D8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017F83-A805-4535-A6D2-D67AA2C9BA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54B80B-2238-477C-8027-D9D475EDDA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130B79-09A6-45EC-86C2-FA9A39C650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1FCFB7-8E9F-462D-BB6E-ECD17E4AD6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1E2858-E7BB-47AE-A5EC-80DF8CD989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bb967c4e2a42c3" /><Relationship Type="http://schemas.openxmlformats.org/officeDocument/2006/relationships/slideLayout" Target="/ppt/slideLayouts/slideLayout1.xml" Id="Raf1b1e101f994311" /><Relationship Type="http://schemas.openxmlformats.org/officeDocument/2006/relationships/slideLayout" Target="/ppt/slideLayouts/slideLayout2.xml" Id="Ra66c407a95f54777" /><Relationship Type="http://schemas.openxmlformats.org/officeDocument/2006/relationships/slideLayout" Target="/ppt/slideLayouts/slideLayout3.xml" Id="R0f391346a3d8465c" /><Relationship Type="http://schemas.openxmlformats.org/officeDocument/2006/relationships/slideLayout" Target="/ppt/slideLayouts/slideLayout4.xml" Id="R15922107c0bc4d93" /><Relationship Type="http://schemas.openxmlformats.org/officeDocument/2006/relationships/slideLayout" Target="/ppt/slideLayouts/slideLayout5.xml" Id="R54362bc30d4449d5" /><Relationship Type="http://schemas.openxmlformats.org/officeDocument/2006/relationships/slideLayout" Target="/ppt/slideLayouts/slideLayout6.xml" Id="R8d6382425ec946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1b1e101f994311"/>
    <p:sldLayoutId xmlns:r="http://schemas.openxmlformats.org/officeDocument/2006/relationships" id="2147483650" r:id="Ra66c407a95f54777"/>
    <p:sldLayoutId xmlns:r="http://schemas.openxmlformats.org/officeDocument/2006/relationships" id="2147483651" r:id="R0f391346a3d8465c"/>
    <p:sldLayoutId xmlns:r="http://schemas.openxmlformats.org/officeDocument/2006/relationships" id="2147483652" r:id="R15922107c0bc4d93"/>
    <p:sldLayoutId xmlns:r="http://schemas.openxmlformats.org/officeDocument/2006/relationships" id="2147483653" r:id="R54362bc30d4449d5"/>
    <p:sldLayoutId xmlns:r="http://schemas.openxmlformats.org/officeDocument/2006/relationships" id="2147483654" r:id="R8d6382425ec946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b7858db0a14254" /><Relationship Type="http://schemas.openxmlformats.org/officeDocument/2006/relationships/image" Target="/ppt/media/image.png" Id="R049db323af064bbb" /><Relationship Type="http://schemas.openxmlformats.org/officeDocument/2006/relationships/notesSlide" Target="/ppt/notesSlides/notesSlide1.xml" Id="R03b54361d0df4f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1272a4c6244d28" /><Relationship Type="http://schemas.openxmlformats.org/officeDocument/2006/relationships/image" Target="/ppt/media/image2.png" Id="R0ec6a0dd667d422d" /><Relationship Type="http://schemas.openxmlformats.org/officeDocument/2006/relationships/notesSlide" Target="/ppt/notesSlides/notesSlide2.xml" Id="Re24764b3748e46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81277c618f4265" /><Relationship Type="http://schemas.openxmlformats.org/officeDocument/2006/relationships/image" Target="/ppt/media/image3.png" Id="Rc2f1d5abaa154f30" /><Relationship Type="http://schemas.openxmlformats.org/officeDocument/2006/relationships/notesSlide" Target="/ppt/notesSlides/notesSlide3.xml" Id="Rd36595df1c4d444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90371E-E311-4BDF-8ABF-37C474155265}"/>
              </a:ext>
            </a:extLst>
          </p:cNvPr>
          <p:cNvSpPr>
            <a:spLocks xmlns:a="http://schemas.openxmlformats.org/drawingml/2006/main" noGrp="1"/>
          </p:cNvSpPr>
          <p:nvPr/>
        </p:nvSpPr>
        <p:spPr>
          <a:xfrm xmlns:a="http://schemas.openxmlformats.org/drawingml/2006/main">
            <a:off x="609600" y="361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83153"/>
                </a:solidFill>
                <a:latin typeface="Arial"/>
                <a:ea typeface="Arial"/>
                <a:cs typeface="Arial"/>
              </a:defRPr>
            </a:defPPr>
            <a:lvl1pPr algn="l">
              <a:buNone/>
              <a:defRPr sz="3150" b="1">
                <a:solidFill>
                  <a:srgbClr val="183153"/>
                </a:solidFill>
                <a:latin typeface="Arial"/>
                <a:ea typeface="Arial"/>
                <a:cs typeface="Arial"/>
              </a:defRPr>
            </a:lvl1pPr>
            <a:lvl2pPr algn="l">
              <a:buNone/>
              <a:defRPr sz="3150" b="1">
                <a:solidFill>
                  <a:srgbClr val="183153"/>
                </a:solidFill>
                <a:latin typeface="Arial"/>
                <a:ea typeface="Arial"/>
                <a:cs typeface="Arial"/>
              </a:defRPr>
            </a:lvl2pPr>
            <a:lvl3pPr algn="l">
              <a:buNone/>
              <a:defRPr sz="3150" b="1">
                <a:solidFill>
                  <a:srgbClr val="183153"/>
                </a:solidFill>
                <a:latin typeface="Arial"/>
                <a:ea typeface="Arial"/>
                <a:cs typeface="Arial"/>
              </a:defRPr>
            </a:lvl3pPr>
            <a:lvl4pPr algn="l">
              <a:buNone/>
              <a:defRPr sz="3150" b="1">
                <a:solidFill>
                  <a:srgbClr val="183153"/>
                </a:solidFill>
                <a:latin typeface="Arial"/>
                <a:ea typeface="Arial"/>
                <a:cs typeface="Arial"/>
              </a:defRPr>
            </a:lvl4pPr>
            <a:lvl5pPr algn="l">
              <a:buNone/>
              <a:defRPr sz="3150" b="1">
                <a:solidFill>
                  <a:srgbClr val="183153"/>
                </a:solidFill>
                <a:latin typeface="Arial"/>
                <a:ea typeface="Arial"/>
                <a:cs typeface="Arial"/>
              </a:defRPr>
            </a:lvl5pPr>
            <a:lvl6pPr algn="l">
              <a:buNone/>
              <a:defRPr sz="3150" b="1">
                <a:solidFill>
                  <a:srgbClr val="183153"/>
                </a:solidFill>
                <a:latin typeface="Arial"/>
                <a:ea typeface="Arial"/>
                <a:cs typeface="Arial"/>
              </a:defRPr>
            </a:lvl6pPr>
            <a:lvl7pPr algn="l">
              <a:buNone/>
              <a:defRPr sz="3150" b="1">
                <a:solidFill>
                  <a:srgbClr val="183153"/>
                </a:solidFill>
                <a:latin typeface="Arial"/>
                <a:ea typeface="Arial"/>
                <a:cs typeface="Arial"/>
              </a:defRPr>
            </a:lvl7pPr>
            <a:lvl8pPr algn="l">
              <a:buNone/>
              <a:defRPr sz="3150" b="1">
                <a:solidFill>
                  <a:srgbClr val="183153"/>
                </a:solidFill>
                <a:latin typeface="Arial"/>
                <a:ea typeface="Arial"/>
                <a:cs typeface="Arial"/>
              </a:defRPr>
            </a:lvl8pPr>
            <a:lvl9pPr algn="l">
              <a:buNone/>
              <a:defRPr sz="3150" b="1">
                <a:solidFill>
                  <a:srgbClr val="183153"/>
                </a:solidFill>
                <a:latin typeface="Arial"/>
                <a:ea typeface="Arial"/>
                <a:cs typeface="Arial"/>
              </a:defRPr>
            </a:lvl9pPr>
          </a:lstStyle>
          <a:p xmlns:a="http://schemas.openxmlformats.org/drawingml/2006/main">
            <a:pPr algn="l">
              <a:buNone/>
              <a:defRPr sz="3150" b="1">
                <a:solidFill>
                  <a:srgbClr val="183153"/>
                </a:solidFill>
                <a:latin typeface="Arial"/>
                <a:ea typeface="Arial"/>
                <a:cs typeface="Arial"/>
              </a:defRPr>
            </a:pPr>
            <a:r>
              <a:rPr sz="3150" b="1">
                <a:solidFill>
                  <a:srgbClr val="183153"/>
                </a:solidFill>
                <a:latin typeface="Arial"/>
                <a:ea typeface="Arial"/>
                <a:cs typeface="Arial"/>
              </a:rPr>
              <a:t>Capacity loss hidden by community totals</a:t>
            </a:r>
          </a:p>
        </p:txBody>
      </p:sp>
      <p:sp>
        <p:nvSpPr>
          <p:cNvPr id="2" name="">
            <a:extLst xmlns:a="http://schemas.openxmlformats.org/drawingml/2006/main">
              <a:ext uri="{FF2B5EF4-FFF2-40B4-BE49-F238E27FC236}">
                <a16:creationId xmlns:a16="http://schemas.microsoft.com/office/drawing/2014/main" id="{7FA62622-D023-4BF1-915E-25DF03B8AAC0}"/>
              </a:ext>
            </a:extLst>
          </p:cNvPr>
          <p:cNvSpPr>
            <a:spLocks xmlns:a="http://schemas.openxmlformats.org/drawingml/2006/main" noGrp="1"/>
          </p:cNvSpPr>
          <p:nvPr/>
        </p:nvSpPr>
        <p:spPr>
          <a:xfrm xmlns:a="http://schemas.openxmlformats.org/drawingml/2006/main">
            <a:off x="609600" y="1076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071"/>
                </a:solidFill>
                <a:latin typeface="Arial"/>
                <a:ea typeface="Arial"/>
                <a:cs typeface="Arial"/>
              </a:defRPr>
            </a:defPPr>
            <a:lvl1pPr>
              <a:buNone/>
              <a:defRPr sz="1725" b="0">
                <a:solidFill>
                  <a:srgbClr val="526071"/>
                </a:solidFill>
                <a:latin typeface="Arial"/>
                <a:ea typeface="Arial"/>
                <a:cs typeface="Arial"/>
              </a:defRPr>
            </a:lvl1pPr>
            <a:lvl2pPr>
              <a:buNone/>
              <a:defRPr sz="1725" b="0">
                <a:solidFill>
                  <a:srgbClr val="526071"/>
                </a:solidFill>
                <a:latin typeface="Arial"/>
                <a:ea typeface="Arial"/>
                <a:cs typeface="Arial"/>
              </a:defRPr>
            </a:lvl2pPr>
            <a:lvl3pPr>
              <a:buNone/>
              <a:defRPr sz="1725" b="0">
                <a:solidFill>
                  <a:srgbClr val="526071"/>
                </a:solidFill>
                <a:latin typeface="Arial"/>
                <a:ea typeface="Arial"/>
                <a:cs typeface="Arial"/>
              </a:defRPr>
            </a:lvl3pPr>
            <a:lvl4pPr>
              <a:buNone/>
              <a:defRPr sz="1725" b="0">
                <a:solidFill>
                  <a:srgbClr val="526071"/>
                </a:solidFill>
                <a:latin typeface="Arial"/>
                <a:ea typeface="Arial"/>
                <a:cs typeface="Arial"/>
              </a:defRPr>
            </a:lvl4pPr>
            <a:lvl5pPr>
              <a:buNone/>
              <a:defRPr sz="1725" b="0">
                <a:solidFill>
                  <a:srgbClr val="526071"/>
                </a:solidFill>
                <a:latin typeface="Arial"/>
                <a:ea typeface="Arial"/>
                <a:cs typeface="Arial"/>
              </a:defRPr>
            </a:lvl5pPr>
            <a:lvl6pPr>
              <a:buNone/>
              <a:defRPr sz="1725" b="0">
                <a:solidFill>
                  <a:srgbClr val="526071"/>
                </a:solidFill>
                <a:latin typeface="Arial"/>
                <a:ea typeface="Arial"/>
                <a:cs typeface="Arial"/>
              </a:defRPr>
            </a:lvl6pPr>
            <a:lvl7pPr>
              <a:buNone/>
              <a:defRPr sz="1725" b="0">
                <a:solidFill>
                  <a:srgbClr val="526071"/>
                </a:solidFill>
                <a:latin typeface="Arial"/>
                <a:ea typeface="Arial"/>
                <a:cs typeface="Arial"/>
              </a:defRPr>
            </a:lvl7pPr>
            <a:lvl8pPr>
              <a:buNone/>
              <a:defRPr sz="1725" b="0">
                <a:solidFill>
                  <a:srgbClr val="526071"/>
                </a:solidFill>
                <a:latin typeface="Arial"/>
                <a:ea typeface="Arial"/>
                <a:cs typeface="Arial"/>
              </a:defRPr>
            </a:lvl8pPr>
            <a:lvl9pPr>
              <a:buNone/>
              <a:defRPr sz="1725" b="0">
                <a:solidFill>
                  <a:srgbClr val="526071"/>
                </a:solidFill>
                <a:latin typeface="Arial"/>
                <a:ea typeface="Arial"/>
                <a:cs typeface="Arial"/>
              </a:defRPr>
            </a:lvl9pPr>
          </a:lstStyle>
          <a:p xmlns:a="http://schemas.openxmlformats.org/drawingml/2006/main">
            <a:pPr>
              <a:buNone/>
              <a:defRPr sz="1725" b="0">
                <a:solidFill>
                  <a:srgbClr val="526071"/>
                </a:solidFill>
                <a:latin typeface="Arial"/>
                <a:ea typeface="Arial"/>
                <a:cs typeface="Arial"/>
              </a:defRPr>
            </a:pPr>
            <a:r>
              <a:rPr sz="1725" b="0">
                <a:solidFill>
                  <a:srgbClr val="526071"/>
                </a:solidFill>
                <a:latin typeface="Arial"/>
                <a:ea typeface="Arial"/>
                <a:cs typeface="Arial"/>
              </a:rPr>
              <a:t>Silas Lu · Hongyi Dong · Xiaofeng Yu · Jin Shi</a:t>
            </a:r>
          </a:p>
        </p:txBody>
      </p:sp>
      <p:sp>
        <p:nvSpPr>
          <p:cNvPr id="3" name="">
            <a:extLst xmlns:a="http://schemas.openxmlformats.org/drawingml/2006/main">
              <a:ext uri="{FF2B5EF4-FFF2-40B4-BE49-F238E27FC236}">
                <a16:creationId xmlns:a16="http://schemas.microsoft.com/office/drawing/2014/main" id="{D5D246F4-ACE7-4409-9F93-9225518C2135}"/>
              </a:ext>
            </a:extLst>
          </p:cNvPr>
          <p:cNvSpPr>
            <a:spLocks xmlns:a="http://schemas.openxmlformats.org/drawingml/2006/main" noGrp="1"/>
          </p:cNvSpPr>
          <p:nvPr/>
        </p:nvSpPr>
        <p:spPr>
          <a:xfrm xmlns:a="http://schemas.openxmlformats.org/drawingml/2006/main">
            <a:off x="609600" y="16192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83153"/>
                </a:solidFill>
                <a:latin typeface="Arial"/>
                <a:ea typeface="Arial"/>
                <a:cs typeface="Arial"/>
              </a:defRPr>
            </a:defPPr>
            <a:lvl1pPr algn="l">
              <a:buNone/>
              <a:defRPr sz="2250" b="0">
                <a:solidFill>
                  <a:srgbClr val="183153"/>
                </a:solidFill>
                <a:latin typeface="Arial"/>
                <a:ea typeface="Arial"/>
                <a:cs typeface="Arial"/>
              </a:defRPr>
            </a:lvl1pPr>
            <a:lvl2pPr algn="l">
              <a:buNone/>
              <a:defRPr sz="2250" b="0">
                <a:solidFill>
                  <a:srgbClr val="183153"/>
                </a:solidFill>
                <a:latin typeface="Arial"/>
                <a:ea typeface="Arial"/>
                <a:cs typeface="Arial"/>
              </a:defRPr>
            </a:lvl2pPr>
            <a:lvl3pPr algn="l">
              <a:buNone/>
              <a:defRPr sz="2250" b="0">
                <a:solidFill>
                  <a:srgbClr val="183153"/>
                </a:solidFill>
                <a:latin typeface="Arial"/>
                <a:ea typeface="Arial"/>
                <a:cs typeface="Arial"/>
              </a:defRPr>
            </a:lvl3pPr>
            <a:lvl4pPr algn="l">
              <a:buNone/>
              <a:defRPr sz="2250" b="0">
                <a:solidFill>
                  <a:srgbClr val="183153"/>
                </a:solidFill>
                <a:latin typeface="Arial"/>
                <a:ea typeface="Arial"/>
                <a:cs typeface="Arial"/>
              </a:defRPr>
            </a:lvl4pPr>
            <a:lvl5pPr algn="l">
              <a:buNone/>
              <a:defRPr sz="2250" b="0">
                <a:solidFill>
                  <a:srgbClr val="183153"/>
                </a:solidFill>
                <a:latin typeface="Arial"/>
                <a:ea typeface="Arial"/>
                <a:cs typeface="Arial"/>
              </a:defRPr>
            </a:lvl5pPr>
            <a:lvl6pPr algn="l">
              <a:buNone/>
              <a:defRPr sz="2250" b="0">
                <a:solidFill>
                  <a:srgbClr val="183153"/>
                </a:solidFill>
                <a:latin typeface="Arial"/>
                <a:ea typeface="Arial"/>
                <a:cs typeface="Arial"/>
              </a:defRPr>
            </a:lvl6pPr>
            <a:lvl7pPr algn="l">
              <a:buNone/>
              <a:defRPr sz="2250" b="0">
                <a:solidFill>
                  <a:srgbClr val="183153"/>
                </a:solidFill>
                <a:latin typeface="Arial"/>
                <a:ea typeface="Arial"/>
                <a:cs typeface="Arial"/>
              </a:defRPr>
            </a:lvl7pPr>
            <a:lvl8pPr algn="l">
              <a:buNone/>
              <a:defRPr sz="2250" b="0">
                <a:solidFill>
                  <a:srgbClr val="183153"/>
                </a:solidFill>
                <a:latin typeface="Arial"/>
                <a:ea typeface="Arial"/>
                <a:cs typeface="Arial"/>
              </a:defRPr>
            </a:lvl8pPr>
            <a:lvl9pPr algn="l">
              <a:buNone/>
              <a:defRPr sz="2250" b="0">
                <a:solidFill>
                  <a:srgbClr val="183153"/>
                </a:solidFill>
                <a:latin typeface="Arial"/>
                <a:ea typeface="Arial"/>
                <a:cs typeface="Arial"/>
              </a:defRPr>
            </a:lvl9pPr>
          </a:lstStyle>
          <a:p xmlns:a="http://schemas.openxmlformats.org/drawingml/2006/main">
            <a:pPr algn="l">
              <a:buNone/>
              <a:defRPr sz="2250" b="0">
                <a:solidFill>
                  <a:srgbClr val="183153"/>
                </a:solidFill>
                <a:latin typeface="Arial"/>
                <a:ea typeface="Arial"/>
                <a:cs typeface="Arial"/>
              </a:defRPr>
            </a:pPr>
            <a:r>
              <a:rPr sz="2250" b="0">
                <a:solidFill>
                  <a:srgbClr val="183153"/>
                </a:solidFill>
                <a:latin typeface="Arial"/>
                <a:ea typeface="Arial"/>
                <a:cs typeface="Arial"/>
              </a:rPr>
              <a:t>Two-choice allocation can leave overloaded buckets beside unused capacity.</a:t>
            </a:r>
          </a:p>
        </p:txBody>
      </p:sp>
      <p:pic>
        <p:nvPicPr>
          <p:cNvPr id="4" name="">
            <a:extLst xmlns:a="http://schemas.openxmlformats.org/drawingml/2006/main">
              <a:ext uri="{FF2B5EF4-FFF2-40B4-BE49-F238E27FC236}">
                <a16:creationId xmlns:a16="http://schemas.microsoft.com/office/drawing/2014/main" id="{89AEC8AA-96AE-4704-8B73-969601ACB272}"/>
              </a:ext>
            </a:extLst>
          </p:cNvPr>
          <p:cNvPicPr>
            <a:picLocks xmlns:a="http://schemas.openxmlformats.org/drawingml/2006/main" noChangeAspect="1"/>
          </p:cNvPicPr>
          <p:nvPr/>
        </p:nvPicPr>
        <p:blipFill>
          <a:blip xmlns:r="http://schemas.openxmlformats.org/officeDocument/2006/relationships" xmlns:a="http://schemas.openxmlformats.org/drawingml/2006/main" r:embed="R049db323af064bbb"/>
          <a:stretch xmlns:a="http://schemas.openxmlformats.org/drawingml/2006/main"/>
        </p:blipFill>
        <p:spPr>
          <a:xfrm xmlns:a="http://schemas.openxmlformats.org/drawingml/2006/main">
            <a:off x="749222" y="2476500"/>
            <a:ext cx="6864506"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9D6525-9C39-41A7-AF99-2148E486F0C4}"/>
              </a:ext>
            </a:extLst>
          </p:cNvPr>
          <p:cNvSpPr>
            <a:spLocks xmlns:a="http://schemas.openxmlformats.org/drawingml/2006/main" noGrp="1"/>
          </p:cNvSpPr>
          <p:nvPr/>
        </p:nvSpPr>
        <p:spPr>
          <a:xfrm xmlns:a="http://schemas.openxmlformats.org/drawingml/2006/main">
            <a:off x="8096250" y="2533650"/>
            <a:ext cx="3429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183153"/>
                </a:solidFill>
                <a:latin typeface="Arial"/>
                <a:ea typeface="Arial"/>
                <a:cs typeface="Arial"/>
              </a:defRPr>
            </a:defPPr>
            <a:lvl1pPr algn="l">
              <a:buNone/>
              <a:defRPr sz="1875" b="0">
                <a:solidFill>
                  <a:srgbClr val="183153"/>
                </a:solidFill>
                <a:latin typeface="Arial"/>
                <a:ea typeface="Arial"/>
                <a:cs typeface="Arial"/>
              </a:defRPr>
            </a:lvl1pPr>
            <a:lvl2pPr algn="l">
              <a:buNone/>
              <a:defRPr sz="1875" b="0">
                <a:solidFill>
                  <a:srgbClr val="183153"/>
                </a:solidFill>
                <a:latin typeface="Arial"/>
                <a:ea typeface="Arial"/>
                <a:cs typeface="Arial"/>
              </a:defRPr>
            </a:lvl2pPr>
            <a:lvl3pPr algn="l">
              <a:buNone/>
              <a:defRPr sz="1875" b="0">
                <a:solidFill>
                  <a:srgbClr val="183153"/>
                </a:solidFill>
                <a:latin typeface="Arial"/>
                <a:ea typeface="Arial"/>
                <a:cs typeface="Arial"/>
              </a:defRPr>
            </a:lvl3pPr>
            <a:lvl4pPr algn="l">
              <a:buNone/>
              <a:defRPr sz="1875" b="0">
                <a:solidFill>
                  <a:srgbClr val="183153"/>
                </a:solidFill>
                <a:latin typeface="Arial"/>
                <a:ea typeface="Arial"/>
                <a:cs typeface="Arial"/>
              </a:defRPr>
            </a:lvl4pPr>
            <a:lvl5pPr algn="l">
              <a:buNone/>
              <a:defRPr sz="1875" b="0">
                <a:solidFill>
                  <a:srgbClr val="183153"/>
                </a:solidFill>
                <a:latin typeface="Arial"/>
                <a:ea typeface="Arial"/>
                <a:cs typeface="Arial"/>
              </a:defRPr>
            </a:lvl5pPr>
            <a:lvl6pPr algn="l">
              <a:buNone/>
              <a:defRPr sz="1875" b="0">
                <a:solidFill>
                  <a:srgbClr val="183153"/>
                </a:solidFill>
                <a:latin typeface="Arial"/>
                <a:ea typeface="Arial"/>
                <a:cs typeface="Arial"/>
              </a:defRPr>
            </a:lvl6pPr>
            <a:lvl7pPr algn="l">
              <a:buNone/>
              <a:defRPr sz="1875" b="0">
                <a:solidFill>
                  <a:srgbClr val="183153"/>
                </a:solidFill>
                <a:latin typeface="Arial"/>
                <a:ea typeface="Arial"/>
                <a:cs typeface="Arial"/>
              </a:defRPr>
            </a:lvl7pPr>
            <a:lvl8pPr algn="l">
              <a:buNone/>
              <a:defRPr sz="1875" b="0">
                <a:solidFill>
                  <a:srgbClr val="183153"/>
                </a:solidFill>
                <a:latin typeface="Arial"/>
                <a:ea typeface="Arial"/>
                <a:cs typeface="Arial"/>
              </a:defRPr>
            </a:lvl8pPr>
            <a:lvl9pPr algn="l">
              <a:buNone/>
              <a:defRPr sz="1875" b="0">
                <a:solidFill>
                  <a:srgbClr val="183153"/>
                </a:solidFill>
                <a:latin typeface="Arial"/>
                <a:ea typeface="Arial"/>
                <a:cs typeface="Arial"/>
              </a:defRPr>
            </a:lvl9pPr>
          </a:lstStyle>
          <a:p xmlns:a="http://schemas.openxmlformats.org/drawingml/2006/main">
            <a:pPr algn="l">
              <a:buNone/>
              <a:defRPr sz="1875" b="0">
                <a:solidFill>
                  <a:srgbClr val="183153"/>
                </a:solidFill>
                <a:latin typeface="Arial"/>
                <a:ea typeface="Arial"/>
                <a:cs typeface="Arial"/>
              </a:defRPr>
            </a:pPr>
            <a:r>
              <a:rPr sz="1875" b="0">
                <a:solidFill>
                  <a:srgbClr val="183153"/>
                </a:solidFill>
                <a:latin typeface="Arial"/>
                <a:ea typeface="Arial"/>
                <a:cs typeface="Arial"/>
              </a:rPr>
              <a:t>Buckets carry assigned load.</a:t>
            </a:r>
          </a:p>
          <a:p xmlns:a="http://schemas.openxmlformats.org/drawingml/2006/main">
            <a:r>
              <a:t/>
            </a:r>
          </a:p>
          <a:p xmlns:a="http://schemas.openxmlformats.org/drawingml/2006/main">
            <a:pPr algn="l">
              <a:buNone/>
              <a:defRPr sz="1875" b="0">
                <a:solidFill>
                  <a:srgbClr val="183153"/>
                </a:solidFill>
                <a:latin typeface="Arial"/>
                <a:ea typeface="Arial"/>
                <a:cs typeface="Arial"/>
              </a:defRPr>
            </a:pPr>
            <a:r>
              <a:rPr sz="1875" b="0">
                <a:solidFill>
                  <a:srgbClr val="183153"/>
                </a:solidFill>
                <a:latin typeface="Arial"/>
                <a:ea typeface="Arial"/>
                <a:cs typeface="Arial"/>
              </a:rPr>
              <a:t>Communities group the buckets.</a:t>
            </a:r>
          </a:p>
          <a:p xmlns:a="http://schemas.openxmlformats.org/drawingml/2006/main">
            <a:r>
              <a:t/>
            </a:r>
          </a:p>
          <a:p xmlns:a="http://schemas.openxmlformats.org/drawingml/2006/main">
            <a:pPr algn="l">
              <a:buNone/>
              <a:defRPr sz="1875" b="0">
                <a:solidFill>
                  <a:srgbClr val="183153"/>
                </a:solidFill>
                <a:latin typeface="Arial"/>
                <a:ea typeface="Arial"/>
                <a:cs typeface="Arial"/>
              </a:defRPr>
            </a:pPr>
            <a:r>
              <a:rPr sz="1875" b="0">
                <a:solidFill>
                  <a:srgbClr val="183153"/>
                </a:solidFill>
                <a:latin typeface="Arial"/>
                <a:ea typeface="Arial"/>
                <a:cs typeface="Arial"/>
              </a:rPr>
              <a:t>Candidate edges limit comparisons.</a:t>
            </a:r>
          </a:p>
          <a:p xmlns:a="http://schemas.openxmlformats.org/drawingml/2006/main">
            <a:r>
              <a:t/>
            </a:r>
          </a:p>
          <a:p xmlns:a="http://schemas.openxmlformats.org/drawingml/2006/main">
            <a:pPr algn="l">
              <a:buNone/>
              <a:defRPr sz="1875" b="0">
                <a:solidFill>
                  <a:srgbClr val="183153"/>
                </a:solidFill>
                <a:latin typeface="Arial"/>
                <a:ea typeface="Arial"/>
                <a:cs typeface="Arial"/>
              </a:defRPr>
            </a:pPr>
            <a:r>
              <a:rPr sz="1875" b="0">
                <a:solidFill>
                  <a:srgbClr val="183153"/>
                </a:solidFill>
                <a:latin typeface="Arial"/>
                <a:ea typeface="Arial"/>
                <a:cs typeface="Arial"/>
              </a:rPr>
              <a:t>Overflow counts load above c.</a:t>
            </a:r>
          </a:p>
        </p:txBody>
      </p:sp>
      <p:sp>
        <p:nvSpPr>
          <p:cNvPr id="6" name="">
            <a:extLst xmlns:a="http://schemas.openxmlformats.org/drawingml/2006/main">
              <a:ext uri="{FF2B5EF4-FFF2-40B4-BE49-F238E27FC236}">
                <a16:creationId xmlns:a16="http://schemas.microsoft.com/office/drawing/2014/main" id="{B47062C7-CD76-44C4-A396-14DBDF154FA4}"/>
              </a:ext>
            </a:extLst>
          </p:cNvPr>
          <p:cNvSpPr>
            <a:spLocks xmlns:a="http://schemas.openxmlformats.org/drawingml/2006/main" noGrp="1"/>
          </p:cNvSpPr>
          <p:nvPr/>
        </p:nvSpPr>
        <p:spPr>
          <a:xfrm xmlns:a="http://schemas.openxmlformats.org/drawingml/2006/main">
            <a:off x="609600" y="59626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526071"/>
                </a:solidFill>
                <a:latin typeface="Arial"/>
                <a:ea typeface="Arial"/>
                <a:cs typeface="Arial"/>
              </a:defRPr>
            </a:defPPr>
            <a:lvl1pPr algn="l">
              <a:buNone/>
              <a:defRPr sz="1500" b="0">
                <a:solidFill>
                  <a:srgbClr val="526071"/>
                </a:solidFill>
                <a:latin typeface="Arial"/>
                <a:ea typeface="Arial"/>
                <a:cs typeface="Arial"/>
              </a:defRPr>
            </a:lvl1pPr>
            <a:lvl2pPr algn="l">
              <a:buNone/>
              <a:defRPr sz="1500" b="0">
                <a:solidFill>
                  <a:srgbClr val="526071"/>
                </a:solidFill>
                <a:latin typeface="Arial"/>
                <a:ea typeface="Arial"/>
                <a:cs typeface="Arial"/>
              </a:defRPr>
            </a:lvl2pPr>
            <a:lvl3pPr algn="l">
              <a:buNone/>
              <a:defRPr sz="1500" b="0">
                <a:solidFill>
                  <a:srgbClr val="526071"/>
                </a:solidFill>
                <a:latin typeface="Arial"/>
                <a:ea typeface="Arial"/>
                <a:cs typeface="Arial"/>
              </a:defRPr>
            </a:lvl3pPr>
            <a:lvl4pPr algn="l">
              <a:buNone/>
              <a:defRPr sz="1500" b="0">
                <a:solidFill>
                  <a:srgbClr val="526071"/>
                </a:solidFill>
                <a:latin typeface="Arial"/>
                <a:ea typeface="Arial"/>
                <a:cs typeface="Arial"/>
              </a:defRPr>
            </a:lvl4pPr>
            <a:lvl5pPr algn="l">
              <a:buNone/>
              <a:defRPr sz="1500" b="0">
                <a:solidFill>
                  <a:srgbClr val="526071"/>
                </a:solidFill>
                <a:latin typeface="Arial"/>
                <a:ea typeface="Arial"/>
                <a:cs typeface="Arial"/>
              </a:defRPr>
            </a:lvl5pPr>
            <a:lvl6pPr algn="l">
              <a:buNone/>
              <a:defRPr sz="1500" b="0">
                <a:solidFill>
                  <a:srgbClr val="526071"/>
                </a:solidFill>
                <a:latin typeface="Arial"/>
                <a:ea typeface="Arial"/>
                <a:cs typeface="Arial"/>
              </a:defRPr>
            </a:lvl6pPr>
            <a:lvl7pPr algn="l">
              <a:buNone/>
              <a:defRPr sz="1500" b="0">
                <a:solidFill>
                  <a:srgbClr val="526071"/>
                </a:solidFill>
                <a:latin typeface="Arial"/>
                <a:ea typeface="Arial"/>
                <a:cs typeface="Arial"/>
              </a:defRPr>
            </a:lvl7pPr>
            <a:lvl8pPr algn="l">
              <a:buNone/>
              <a:defRPr sz="1500" b="0">
                <a:solidFill>
                  <a:srgbClr val="526071"/>
                </a:solidFill>
                <a:latin typeface="Arial"/>
                <a:ea typeface="Arial"/>
                <a:cs typeface="Arial"/>
              </a:defRPr>
            </a:lvl8pPr>
            <a:lvl9pPr algn="l">
              <a:buNone/>
              <a:defRPr sz="1500" b="0">
                <a:solidFill>
                  <a:srgbClr val="526071"/>
                </a:solidFill>
                <a:latin typeface="Arial"/>
                <a:ea typeface="Arial"/>
                <a:cs typeface="Arial"/>
              </a:defRPr>
            </a:lvl9pPr>
          </a:lstStyle>
          <a:p xmlns:a="http://schemas.openxmlformats.org/drawingml/2006/main">
            <a:pPr algn="l">
              <a:buNone/>
              <a:defRPr sz="1500" b="0">
                <a:solidFill>
                  <a:srgbClr val="526071"/>
                </a:solidFill>
                <a:latin typeface="Arial"/>
                <a:ea typeface="Arial"/>
                <a:cs typeface="Arial"/>
              </a:defRPr>
            </a:pPr>
            <a:r>
              <a:rPr sz="1500" b="0">
                <a:solidFill>
                  <a:srgbClr val="526071"/>
                </a:solidFill>
                <a:latin typeface="Arial"/>
                <a:ea typeface="Arial"/>
                <a:cs typeface="Arial"/>
              </a:rPr>
              <a:t>At critical fill, internal load variation contributes a positive order-q term beyond community excess.</a:t>
            </a:r>
          </a:p>
        </p:txBody>
      </p:sp>
    </p:spTree>
    <p:extLst>
      <p:ext uri="{BB962C8B-B14F-4D97-AF65-F5344CB8AC3E}">
        <p14:creationId xmlns:p14="http://schemas.microsoft.com/office/powerpoint/2010/main" val="5862702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EFB4DA-3EC4-4787-AA42-C33934B98AF4}"/>
              </a:ext>
            </a:extLst>
          </p:cNvPr>
          <p:cNvSpPr>
            <a:spLocks xmlns:a="http://schemas.openxmlformats.org/drawingml/2006/main" noGrp="1"/>
          </p:cNvSpPr>
          <p:nvPr/>
        </p:nvSpPr>
        <p:spPr>
          <a:xfrm xmlns:a="http://schemas.openxmlformats.org/drawingml/2006/main">
            <a:off x="609600" y="361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83153"/>
                </a:solidFill>
                <a:latin typeface="Arial"/>
                <a:ea typeface="Arial"/>
                <a:cs typeface="Arial"/>
              </a:defRPr>
            </a:defPPr>
            <a:lvl1pPr algn="l">
              <a:buNone/>
              <a:defRPr sz="3150" b="1">
                <a:solidFill>
                  <a:srgbClr val="183153"/>
                </a:solidFill>
                <a:latin typeface="Arial"/>
                <a:ea typeface="Arial"/>
                <a:cs typeface="Arial"/>
              </a:defRPr>
            </a:lvl1pPr>
            <a:lvl2pPr algn="l">
              <a:buNone/>
              <a:defRPr sz="3150" b="1">
                <a:solidFill>
                  <a:srgbClr val="183153"/>
                </a:solidFill>
                <a:latin typeface="Arial"/>
                <a:ea typeface="Arial"/>
                <a:cs typeface="Arial"/>
              </a:defRPr>
            </a:lvl2pPr>
            <a:lvl3pPr algn="l">
              <a:buNone/>
              <a:defRPr sz="3150" b="1">
                <a:solidFill>
                  <a:srgbClr val="183153"/>
                </a:solidFill>
                <a:latin typeface="Arial"/>
                <a:ea typeface="Arial"/>
                <a:cs typeface="Arial"/>
              </a:defRPr>
            </a:lvl3pPr>
            <a:lvl4pPr algn="l">
              <a:buNone/>
              <a:defRPr sz="3150" b="1">
                <a:solidFill>
                  <a:srgbClr val="183153"/>
                </a:solidFill>
                <a:latin typeface="Arial"/>
                <a:ea typeface="Arial"/>
                <a:cs typeface="Arial"/>
              </a:defRPr>
            </a:lvl4pPr>
            <a:lvl5pPr algn="l">
              <a:buNone/>
              <a:defRPr sz="3150" b="1">
                <a:solidFill>
                  <a:srgbClr val="183153"/>
                </a:solidFill>
                <a:latin typeface="Arial"/>
                <a:ea typeface="Arial"/>
                <a:cs typeface="Arial"/>
              </a:defRPr>
            </a:lvl5pPr>
            <a:lvl6pPr algn="l">
              <a:buNone/>
              <a:defRPr sz="3150" b="1">
                <a:solidFill>
                  <a:srgbClr val="183153"/>
                </a:solidFill>
                <a:latin typeface="Arial"/>
                <a:ea typeface="Arial"/>
                <a:cs typeface="Arial"/>
              </a:defRPr>
            </a:lvl6pPr>
            <a:lvl7pPr algn="l">
              <a:buNone/>
              <a:defRPr sz="3150" b="1">
                <a:solidFill>
                  <a:srgbClr val="183153"/>
                </a:solidFill>
                <a:latin typeface="Arial"/>
                <a:ea typeface="Arial"/>
                <a:cs typeface="Arial"/>
              </a:defRPr>
            </a:lvl7pPr>
            <a:lvl8pPr algn="l">
              <a:buNone/>
              <a:defRPr sz="3150" b="1">
                <a:solidFill>
                  <a:srgbClr val="183153"/>
                </a:solidFill>
                <a:latin typeface="Arial"/>
                <a:ea typeface="Arial"/>
                <a:cs typeface="Arial"/>
              </a:defRPr>
            </a:lvl8pPr>
            <a:lvl9pPr algn="l">
              <a:buNone/>
              <a:defRPr sz="3150" b="1">
                <a:solidFill>
                  <a:srgbClr val="183153"/>
                </a:solidFill>
                <a:latin typeface="Arial"/>
                <a:ea typeface="Arial"/>
                <a:cs typeface="Arial"/>
              </a:defRPr>
            </a:lvl9pPr>
          </a:lstStyle>
          <a:p xmlns:a="http://schemas.openxmlformats.org/drawingml/2006/main">
            <a:pPr algn="l">
              <a:buNone/>
              <a:defRPr sz="3150" b="1">
                <a:solidFill>
                  <a:srgbClr val="183153"/>
                </a:solidFill>
                <a:latin typeface="Arial"/>
                <a:ea typeface="Arial"/>
                <a:cs typeface="Arial"/>
              </a:defRPr>
            </a:pPr>
            <a:r>
              <a:rPr sz="3150" b="1">
                <a:solidFill>
                  <a:srgbClr val="183153"/>
                </a:solidFill>
                <a:latin typeface="Arial"/>
                <a:ea typeface="Arial"/>
                <a:cs typeface="Arial"/>
              </a:rPr>
              <a:t>Internal overflow changes the leading capacity cost</a:t>
            </a:r>
          </a:p>
        </p:txBody>
      </p:sp>
      <p:sp>
        <p:nvSpPr>
          <p:cNvPr id="2" name="">
            <a:extLst xmlns:a="http://schemas.openxmlformats.org/drawingml/2006/main">
              <a:ext uri="{FF2B5EF4-FFF2-40B4-BE49-F238E27FC236}">
                <a16:creationId xmlns:a16="http://schemas.microsoft.com/office/drawing/2014/main" id="{F0C6490F-E14A-43C4-951B-AD4809294DEB}"/>
              </a:ext>
            </a:extLst>
          </p:cNvPr>
          <p:cNvSpPr>
            <a:spLocks xmlns:a="http://schemas.openxmlformats.org/drawingml/2006/main" noGrp="1"/>
          </p:cNvSpPr>
          <p:nvPr/>
        </p:nvSpPr>
        <p:spPr>
          <a:xfrm xmlns:a="http://schemas.openxmlformats.org/drawingml/2006/main">
            <a:off x="609600" y="12477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83153"/>
                </a:solidFill>
                <a:latin typeface="Arial"/>
                <a:ea typeface="Arial"/>
                <a:cs typeface="Arial"/>
              </a:defRPr>
            </a:defPPr>
            <a:lvl1pPr algn="l">
              <a:buNone/>
              <a:defRPr sz="2250" b="0">
                <a:solidFill>
                  <a:srgbClr val="183153"/>
                </a:solidFill>
                <a:latin typeface="Arial"/>
                <a:ea typeface="Arial"/>
                <a:cs typeface="Arial"/>
              </a:defRPr>
            </a:lvl1pPr>
            <a:lvl2pPr algn="l">
              <a:buNone/>
              <a:defRPr sz="2250" b="0">
                <a:solidFill>
                  <a:srgbClr val="183153"/>
                </a:solidFill>
                <a:latin typeface="Arial"/>
                <a:ea typeface="Arial"/>
                <a:cs typeface="Arial"/>
              </a:defRPr>
            </a:lvl2pPr>
            <a:lvl3pPr algn="l">
              <a:buNone/>
              <a:defRPr sz="2250" b="0">
                <a:solidFill>
                  <a:srgbClr val="183153"/>
                </a:solidFill>
                <a:latin typeface="Arial"/>
                <a:ea typeface="Arial"/>
                <a:cs typeface="Arial"/>
              </a:defRPr>
            </a:lvl3pPr>
            <a:lvl4pPr algn="l">
              <a:buNone/>
              <a:defRPr sz="2250" b="0">
                <a:solidFill>
                  <a:srgbClr val="183153"/>
                </a:solidFill>
                <a:latin typeface="Arial"/>
                <a:ea typeface="Arial"/>
                <a:cs typeface="Arial"/>
              </a:defRPr>
            </a:lvl4pPr>
            <a:lvl5pPr algn="l">
              <a:buNone/>
              <a:defRPr sz="2250" b="0">
                <a:solidFill>
                  <a:srgbClr val="183153"/>
                </a:solidFill>
                <a:latin typeface="Arial"/>
                <a:ea typeface="Arial"/>
                <a:cs typeface="Arial"/>
              </a:defRPr>
            </a:lvl5pPr>
            <a:lvl6pPr algn="l">
              <a:buNone/>
              <a:defRPr sz="2250" b="0">
                <a:solidFill>
                  <a:srgbClr val="183153"/>
                </a:solidFill>
                <a:latin typeface="Arial"/>
                <a:ea typeface="Arial"/>
                <a:cs typeface="Arial"/>
              </a:defRPr>
            </a:lvl6pPr>
            <a:lvl7pPr algn="l">
              <a:buNone/>
              <a:defRPr sz="2250" b="0">
                <a:solidFill>
                  <a:srgbClr val="183153"/>
                </a:solidFill>
                <a:latin typeface="Arial"/>
                <a:ea typeface="Arial"/>
                <a:cs typeface="Arial"/>
              </a:defRPr>
            </a:lvl7pPr>
            <a:lvl8pPr algn="l">
              <a:buNone/>
              <a:defRPr sz="2250" b="0">
                <a:solidFill>
                  <a:srgbClr val="183153"/>
                </a:solidFill>
                <a:latin typeface="Arial"/>
                <a:ea typeface="Arial"/>
                <a:cs typeface="Arial"/>
              </a:defRPr>
            </a:lvl8pPr>
            <a:lvl9pPr algn="l">
              <a:buNone/>
              <a:defRPr sz="2250" b="0">
                <a:solidFill>
                  <a:srgbClr val="183153"/>
                </a:solidFill>
                <a:latin typeface="Arial"/>
                <a:ea typeface="Arial"/>
                <a:cs typeface="Arial"/>
              </a:defRPr>
            </a:lvl9pPr>
          </a:lstStyle>
          <a:p xmlns:a="http://schemas.openxmlformats.org/drawingml/2006/main">
            <a:pPr algn="l">
              <a:buNone/>
              <a:defRPr sz="2250" b="0">
                <a:solidFill>
                  <a:srgbClr val="183153"/>
                </a:solidFill>
                <a:latin typeface="Arial"/>
                <a:ea typeface="Arial"/>
                <a:cs typeface="Arial"/>
              </a:defRPr>
            </a:pPr>
            <a:r>
              <a:rPr sz="2250" b="0">
                <a:solidFill>
                  <a:srgbClr val="183153"/>
                </a:solidFill>
                <a:latin typeface="Arial"/>
                <a:ea typeface="Arial"/>
                <a:cs typeface="Arial"/>
              </a:rPr>
              <a:t>A joint critical law retains community imbalance and the internal load profile.</a:t>
            </a:r>
          </a:p>
        </p:txBody>
      </p:sp>
      <p:pic>
        <p:nvPicPr>
          <p:cNvPr id="3" name="">
            <a:extLst xmlns:a="http://schemas.openxmlformats.org/drawingml/2006/main">
              <a:ext uri="{FF2B5EF4-FFF2-40B4-BE49-F238E27FC236}">
                <a16:creationId xmlns:a16="http://schemas.microsoft.com/office/drawing/2014/main" id="{F4F3800D-F429-430E-B2EA-AD888AAC657C}"/>
              </a:ext>
            </a:extLst>
          </p:cNvPr>
          <p:cNvPicPr>
            <a:picLocks xmlns:a="http://schemas.openxmlformats.org/drawingml/2006/main" noChangeAspect="1"/>
          </p:cNvPicPr>
          <p:nvPr/>
        </p:nvPicPr>
        <p:blipFill>
          <a:blip xmlns:r="http://schemas.openxmlformats.org/officeDocument/2006/relationships" xmlns:a="http://schemas.openxmlformats.org/drawingml/2006/main" r:embed="R0ec6a0dd667d422d"/>
          <a:stretch xmlns:a="http://schemas.openxmlformats.org/drawingml/2006/main"/>
        </p:blipFill>
        <p:spPr>
          <a:xfrm xmlns:a="http://schemas.openxmlformats.org/drawingml/2006/main">
            <a:off x="1789442" y="2095500"/>
            <a:ext cx="8613117"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C5640E-4410-479E-952C-4CEF5D747EA8}"/>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0">
                <a:solidFill>
                  <a:srgbClr val="183153"/>
                </a:solidFill>
                <a:latin typeface="Arial"/>
                <a:ea typeface="Arial"/>
                <a:cs typeface="Arial"/>
              </a:defRPr>
            </a:defPPr>
            <a:lvl1pPr algn="l">
              <a:buNone/>
              <a:defRPr sz="1950" b="0">
                <a:solidFill>
                  <a:srgbClr val="183153"/>
                </a:solidFill>
                <a:latin typeface="Arial"/>
                <a:ea typeface="Arial"/>
                <a:cs typeface="Arial"/>
              </a:defRPr>
            </a:lvl1pPr>
            <a:lvl2pPr algn="l">
              <a:buNone/>
              <a:defRPr sz="1950" b="0">
                <a:solidFill>
                  <a:srgbClr val="183153"/>
                </a:solidFill>
                <a:latin typeface="Arial"/>
                <a:ea typeface="Arial"/>
                <a:cs typeface="Arial"/>
              </a:defRPr>
            </a:lvl2pPr>
            <a:lvl3pPr algn="l">
              <a:buNone/>
              <a:defRPr sz="1950" b="0">
                <a:solidFill>
                  <a:srgbClr val="183153"/>
                </a:solidFill>
                <a:latin typeface="Arial"/>
                <a:ea typeface="Arial"/>
                <a:cs typeface="Arial"/>
              </a:defRPr>
            </a:lvl3pPr>
            <a:lvl4pPr algn="l">
              <a:buNone/>
              <a:defRPr sz="1950" b="0">
                <a:solidFill>
                  <a:srgbClr val="183153"/>
                </a:solidFill>
                <a:latin typeface="Arial"/>
                <a:ea typeface="Arial"/>
                <a:cs typeface="Arial"/>
              </a:defRPr>
            </a:lvl4pPr>
            <a:lvl5pPr algn="l">
              <a:buNone/>
              <a:defRPr sz="1950" b="0">
                <a:solidFill>
                  <a:srgbClr val="183153"/>
                </a:solidFill>
                <a:latin typeface="Arial"/>
                <a:ea typeface="Arial"/>
                <a:cs typeface="Arial"/>
              </a:defRPr>
            </a:lvl5pPr>
            <a:lvl6pPr algn="l">
              <a:buNone/>
              <a:defRPr sz="1950" b="0">
                <a:solidFill>
                  <a:srgbClr val="183153"/>
                </a:solidFill>
                <a:latin typeface="Arial"/>
                <a:ea typeface="Arial"/>
                <a:cs typeface="Arial"/>
              </a:defRPr>
            </a:lvl6pPr>
            <a:lvl7pPr algn="l">
              <a:buNone/>
              <a:defRPr sz="1950" b="0">
                <a:solidFill>
                  <a:srgbClr val="183153"/>
                </a:solidFill>
                <a:latin typeface="Arial"/>
                <a:ea typeface="Arial"/>
                <a:cs typeface="Arial"/>
              </a:defRPr>
            </a:lvl7pPr>
            <a:lvl8pPr algn="l">
              <a:buNone/>
              <a:defRPr sz="1950" b="0">
                <a:solidFill>
                  <a:srgbClr val="183153"/>
                </a:solidFill>
                <a:latin typeface="Arial"/>
                <a:ea typeface="Arial"/>
                <a:cs typeface="Arial"/>
              </a:defRPr>
            </a:lvl8pPr>
            <a:lvl9pPr algn="l">
              <a:buNone/>
              <a:defRPr sz="1950" b="0">
                <a:solidFill>
                  <a:srgbClr val="183153"/>
                </a:solidFill>
                <a:latin typeface="Arial"/>
                <a:ea typeface="Arial"/>
                <a:cs typeface="Arial"/>
              </a:defRPr>
            </a:lvl9pPr>
          </a:lstStyle>
          <a:p xmlns:a="http://schemas.openxmlformats.org/drawingml/2006/main">
            <a:pPr algn="l">
              <a:buNone/>
              <a:defRPr sz="1950" b="0">
                <a:solidFill>
                  <a:srgbClr val="183153"/>
                </a:solidFill>
                <a:latin typeface="Arial"/>
                <a:ea typeface="Arial"/>
                <a:cs typeface="Arial"/>
              </a:defRPr>
            </a:pPr>
            <a:r>
              <a:rPr sz="1950" b="0">
                <a:solidFill>
                  <a:srgbClr val="183153"/>
                </a:solidFill>
                <a:latin typeface="Arial"/>
                <a:ea typeface="Arial"/>
                <a:cs typeface="Arial"/>
              </a:rPr>
              <a:t>Expected overflow is order q at nominal capacity.</a:t>
            </a:r>
          </a:p>
          <a:p xmlns:a="http://schemas.openxmlformats.org/drawingml/2006/main">
            <a:pPr algn="l">
              <a:buNone/>
              <a:defRPr sz="1950" b="0">
                <a:solidFill>
                  <a:srgbClr val="183153"/>
                </a:solidFill>
                <a:latin typeface="Arial"/>
                <a:ea typeface="Arial"/>
                <a:cs typeface="Arial"/>
              </a:defRPr>
            </a:pPr>
            <a:r>
              <a:rPr sz="1950" b="0">
                <a:solidFill>
                  <a:srgbClr val="183153"/>
                </a:solidFill>
                <a:latin typeface="Arial"/>
                <a:ea typeface="Arial"/>
                <a:cs typeface="Arial"/>
              </a:rPr>
              <a:t>At zero normalized imbalance, the profile readout is approximately 0.6313.</a:t>
            </a:r>
          </a:p>
        </p:txBody>
      </p:sp>
    </p:spTree>
    <p:extLst>
      <p:ext uri="{BB962C8B-B14F-4D97-AF65-F5344CB8AC3E}">
        <p14:creationId xmlns:p14="http://schemas.microsoft.com/office/powerpoint/2010/main" val="11380338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107741-AF88-4CC2-92F2-A8C9AC7C2509}"/>
              </a:ext>
            </a:extLst>
          </p:cNvPr>
          <p:cNvSpPr>
            <a:spLocks xmlns:a="http://schemas.openxmlformats.org/drawingml/2006/main" noGrp="1"/>
          </p:cNvSpPr>
          <p:nvPr/>
        </p:nvSpPr>
        <p:spPr>
          <a:xfrm xmlns:a="http://schemas.openxmlformats.org/drawingml/2006/main">
            <a:off x="609600" y="361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83153"/>
                </a:solidFill>
                <a:latin typeface="Arial"/>
                <a:ea typeface="Arial"/>
                <a:cs typeface="Arial"/>
              </a:defRPr>
            </a:defPPr>
            <a:lvl1pPr algn="l">
              <a:buNone/>
              <a:defRPr sz="3150" b="1">
                <a:solidFill>
                  <a:srgbClr val="183153"/>
                </a:solidFill>
                <a:latin typeface="Arial"/>
                <a:ea typeface="Arial"/>
                <a:cs typeface="Arial"/>
              </a:defRPr>
            </a:lvl1pPr>
            <a:lvl2pPr algn="l">
              <a:buNone/>
              <a:defRPr sz="3150" b="1">
                <a:solidFill>
                  <a:srgbClr val="183153"/>
                </a:solidFill>
                <a:latin typeface="Arial"/>
                <a:ea typeface="Arial"/>
                <a:cs typeface="Arial"/>
              </a:defRPr>
            </a:lvl2pPr>
            <a:lvl3pPr algn="l">
              <a:buNone/>
              <a:defRPr sz="3150" b="1">
                <a:solidFill>
                  <a:srgbClr val="183153"/>
                </a:solidFill>
                <a:latin typeface="Arial"/>
                <a:ea typeface="Arial"/>
                <a:cs typeface="Arial"/>
              </a:defRPr>
            </a:lvl3pPr>
            <a:lvl4pPr algn="l">
              <a:buNone/>
              <a:defRPr sz="3150" b="1">
                <a:solidFill>
                  <a:srgbClr val="183153"/>
                </a:solidFill>
                <a:latin typeface="Arial"/>
                <a:ea typeface="Arial"/>
                <a:cs typeface="Arial"/>
              </a:defRPr>
            </a:lvl4pPr>
            <a:lvl5pPr algn="l">
              <a:buNone/>
              <a:defRPr sz="3150" b="1">
                <a:solidFill>
                  <a:srgbClr val="183153"/>
                </a:solidFill>
                <a:latin typeface="Arial"/>
                <a:ea typeface="Arial"/>
                <a:cs typeface="Arial"/>
              </a:defRPr>
            </a:lvl5pPr>
            <a:lvl6pPr algn="l">
              <a:buNone/>
              <a:defRPr sz="3150" b="1">
                <a:solidFill>
                  <a:srgbClr val="183153"/>
                </a:solidFill>
                <a:latin typeface="Arial"/>
                <a:ea typeface="Arial"/>
                <a:cs typeface="Arial"/>
              </a:defRPr>
            </a:lvl6pPr>
            <a:lvl7pPr algn="l">
              <a:buNone/>
              <a:defRPr sz="3150" b="1">
                <a:solidFill>
                  <a:srgbClr val="183153"/>
                </a:solidFill>
                <a:latin typeface="Arial"/>
                <a:ea typeface="Arial"/>
                <a:cs typeface="Arial"/>
              </a:defRPr>
            </a:lvl7pPr>
            <a:lvl8pPr algn="l">
              <a:buNone/>
              <a:defRPr sz="3150" b="1">
                <a:solidFill>
                  <a:srgbClr val="183153"/>
                </a:solidFill>
                <a:latin typeface="Arial"/>
                <a:ea typeface="Arial"/>
                <a:cs typeface="Arial"/>
              </a:defRPr>
            </a:lvl8pPr>
            <a:lvl9pPr algn="l">
              <a:buNone/>
              <a:defRPr sz="3150" b="1">
                <a:solidFill>
                  <a:srgbClr val="183153"/>
                </a:solidFill>
                <a:latin typeface="Arial"/>
                <a:ea typeface="Arial"/>
                <a:cs typeface="Arial"/>
              </a:defRPr>
            </a:lvl9pPr>
          </a:lstStyle>
          <a:p xmlns:a="http://schemas.openxmlformats.org/drawingml/2006/main">
            <a:pPr algn="l">
              <a:buNone/>
              <a:defRPr sz="3150" b="1">
                <a:solidFill>
                  <a:srgbClr val="183153"/>
                </a:solidFill>
                <a:latin typeface="Arial"/>
                <a:ea typeface="Arial"/>
                <a:cs typeface="Arial"/>
              </a:defRPr>
            </a:pPr>
            <a:r>
              <a:rPr sz="3150" b="1">
                <a:solidFill>
                  <a:srgbClr val="183153"/>
                </a:solidFill>
                <a:latin typeface="Arial"/>
                <a:ea typeface="Arial"/>
                <a:cs typeface="Arial"/>
              </a:rPr>
              <a:t>Topological amplification of internal overflow</a:t>
            </a:r>
          </a:p>
        </p:txBody>
      </p:sp>
      <p:sp>
        <p:nvSpPr>
          <p:cNvPr id="2" name="">
            <a:extLst xmlns:a="http://schemas.openxmlformats.org/drawingml/2006/main">
              <a:ext uri="{FF2B5EF4-FFF2-40B4-BE49-F238E27FC236}">
                <a16:creationId xmlns:a16="http://schemas.microsoft.com/office/drawing/2014/main" id="{0FD7C080-6F1E-4C6F-842B-96B518DB93F2}"/>
              </a:ext>
            </a:extLst>
          </p:cNvPr>
          <p:cNvSpPr>
            <a:spLocks xmlns:a="http://schemas.openxmlformats.org/drawingml/2006/main" noGrp="1"/>
          </p:cNvSpPr>
          <p:nvPr/>
        </p:nvSpPr>
        <p:spPr>
          <a:xfrm xmlns:a="http://schemas.openxmlformats.org/drawingml/2006/main">
            <a:off x="609600" y="1257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183153"/>
                </a:solidFill>
                <a:latin typeface="Arial"/>
                <a:ea typeface="Arial"/>
                <a:cs typeface="Arial"/>
              </a:defRPr>
            </a:defPPr>
            <a:lvl1pPr algn="l">
              <a:buNone/>
              <a:defRPr sz="2250" b="0">
                <a:solidFill>
                  <a:srgbClr val="183153"/>
                </a:solidFill>
                <a:latin typeface="Arial"/>
                <a:ea typeface="Arial"/>
                <a:cs typeface="Arial"/>
              </a:defRPr>
            </a:lvl1pPr>
            <a:lvl2pPr algn="l">
              <a:buNone/>
              <a:defRPr sz="2250" b="0">
                <a:solidFill>
                  <a:srgbClr val="183153"/>
                </a:solidFill>
                <a:latin typeface="Arial"/>
                <a:ea typeface="Arial"/>
                <a:cs typeface="Arial"/>
              </a:defRPr>
            </a:lvl2pPr>
            <a:lvl3pPr algn="l">
              <a:buNone/>
              <a:defRPr sz="2250" b="0">
                <a:solidFill>
                  <a:srgbClr val="183153"/>
                </a:solidFill>
                <a:latin typeface="Arial"/>
                <a:ea typeface="Arial"/>
                <a:cs typeface="Arial"/>
              </a:defRPr>
            </a:lvl3pPr>
            <a:lvl4pPr algn="l">
              <a:buNone/>
              <a:defRPr sz="2250" b="0">
                <a:solidFill>
                  <a:srgbClr val="183153"/>
                </a:solidFill>
                <a:latin typeface="Arial"/>
                <a:ea typeface="Arial"/>
                <a:cs typeface="Arial"/>
              </a:defRPr>
            </a:lvl4pPr>
            <a:lvl5pPr algn="l">
              <a:buNone/>
              <a:defRPr sz="2250" b="0">
                <a:solidFill>
                  <a:srgbClr val="183153"/>
                </a:solidFill>
                <a:latin typeface="Arial"/>
                <a:ea typeface="Arial"/>
                <a:cs typeface="Arial"/>
              </a:defRPr>
            </a:lvl5pPr>
            <a:lvl6pPr algn="l">
              <a:buNone/>
              <a:defRPr sz="2250" b="0">
                <a:solidFill>
                  <a:srgbClr val="183153"/>
                </a:solidFill>
                <a:latin typeface="Arial"/>
                <a:ea typeface="Arial"/>
                <a:cs typeface="Arial"/>
              </a:defRPr>
            </a:lvl6pPr>
            <a:lvl7pPr algn="l">
              <a:buNone/>
              <a:defRPr sz="2250" b="0">
                <a:solidFill>
                  <a:srgbClr val="183153"/>
                </a:solidFill>
                <a:latin typeface="Arial"/>
                <a:ea typeface="Arial"/>
                <a:cs typeface="Arial"/>
              </a:defRPr>
            </a:lvl7pPr>
            <a:lvl8pPr algn="l">
              <a:buNone/>
              <a:defRPr sz="2250" b="0">
                <a:solidFill>
                  <a:srgbClr val="183153"/>
                </a:solidFill>
                <a:latin typeface="Arial"/>
                <a:ea typeface="Arial"/>
                <a:cs typeface="Arial"/>
              </a:defRPr>
            </a:lvl8pPr>
            <a:lvl9pPr algn="l">
              <a:buNone/>
              <a:defRPr sz="2250" b="0">
                <a:solidFill>
                  <a:srgbClr val="183153"/>
                </a:solidFill>
                <a:latin typeface="Arial"/>
                <a:ea typeface="Arial"/>
                <a:cs typeface="Arial"/>
              </a:defRPr>
            </a:lvl9pPr>
          </a:lstStyle>
          <a:p xmlns:a="http://schemas.openxmlformats.org/drawingml/2006/main">
            <a:pPr algn="l">
              <a:buNone/>
              <a:defRPr sz="2100" b="0">
                <a:solidFill>
                  <a:srgbClr val="183153"/>
                </a:solidFill>
                <a:latin typeface="Arial"/>
                <a:ea typeface="Arial"/>
                <a:cs typeface="Arial"/>
              </a:defRPr>
            </a:pPr>
            <a:r>
              <a:rPr sz="2100" b="0">
                <a:solidFill>
                  <a:srgbClr val="183153"/>
                </a:solidFill>
                <a:latin typeface="Arial"/>
                <a:ea typeface="Arial"/>
                <a:cs typeface="Arial"/>
              </a:rPr>
              <a:t>Mean omitted overflow reaches 5.8× for cycles and 21.4× for matchings.</a:t>
            </a:r>
          </a:p>
        </p:txBody>
      </p:sp>
      <p:pic>
        <p:nvPicPr>
          <p:cNvPr id="3" name="">
            <a:extLst xmlns:a="http://schemas.openxmlformats.org/drawingml/2006/main">
              <a:ext uri="{FF2B5EF4-FFF2-40B4-BE49-F238E27FC236}">
                <a16:creationId xmlns:a16="http://schemas.microsoft.com/office/drawing/2014/main" id="{9E50C403-5544-482D-9A7E-0CDA62DCFA7C}"/>
              </a:ext>
            </a:extLst>
          </p:cNvPr>
          <p:cNvPicPr>
            <a:picLocks xmlns:a="http://schemas.openxmlformats.org/drawingml/2006/main" noChangeAspect="1"/>
          </p:cNvPicPr>
          <p:nvPr/>
        </p:nvPicPr>
        <p:blipFill>
          <a:blip xmlns:r="http://schemas.openxmlformats.org/officeDocument/2006/relationships" xmlns:a="http://schemas.openxmlformats.org/drawingml/2006/main" r:embed="Rc2f1d5abaa154f30"/>
          <a:srcRect xmlns:a="http://schemas.openxmlformats.org/drawingml/2006/main" l="0" t="0" r="0" b="0"/>
          <a:stretch xmlns:a="http://schemas.openxmlformats.org/drawingml/2006/main"/>
        </p:blipFill>
        <p:spPr>
          <a:xfrm xmlns:a="http://schemas.openxmlformats.org/drawingml/2006/main">
            <a:off x="1752600" y="1771650"/>
            <a:ext cx="8686800" cy="361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54D8D3-9DF4-452E-84F5-484B25BE278B}"/>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526071"/>
                </a:solidFill>
                <a:latin typeface="Arial"/>
                <a:ea typeface="Arial"/>
                <a:cs typeface="Arial"/>
              </a:defRPr>
            </a:defPPr>
            <a:lvl1pPr algn="l">
              <a:buNone/>
              <a:defRPr sz="2025" b="0">
                <a:solidFill>
                  <a:srgbClr val="183153"/>
                </a:solidFill>
                <a:latin typeface="Arial"/>
                <a:ea typeface="Arial"/>
                <a:cs typeface="Arial"/>
              </a:defRPr>
            </a:lvl1pPr>
            <a:lvl2pPr algn="l">
              <a:buNone/>
              <a:defRPr sz="2025" b="0">
                <a:solidFill>
                  <a:srgbClr val="183153"/>
                </a:solidFill>
                <a:latin typeface="Arial"/>
                <a:ea typeface="Arial"/>
                <a:cs typeface="Arial"/>
              </a:defRPr>
            </a:lvl2pPr>
            <a:lvl3pPr algn="l">
              <a:buNone/>
              <a:defRPr sz="2025" b="0">
                <a:solidFill>
                  <a:srgbClr val="183153"/>
                </a:solidFill>
                <a:latin typeface="Arial"/>
                <a:ea typeface="Arial"/>
                <a:cs typeface="Arial"/>
              </a:defRPr>
            </a:lvl3pPr>
            <a:lvl4pPr algn="l">
              <a:buNone/>
              <a:defRPr sz="2025" b="0">
                <a:solidFill>
                  <a:srgbClr val="183153"/>
                </a:solidFill>
                <a:latin typeface="Arial"/>
                <a:ea typeface="Arial"/>
                <a:cs typeface="Arial"/>
              </a:defRPr>
            </a:lvl4pPr>
            <a:lvl5pPr algn="l">
              <a:buNone/>
              <a:defRPr sz="2025" b="0">
                <a:solidFill>
                  <a:srgbClr val="183153"/>
                </a:solidFill>
                <a:latin typeface="Arial"/>
                <a:ea typeface="Arial"/>
                <a:cs typeface="Arial"/>
              </a:defRPr>
            </a:lvl5pPr>
            <a:lvl6pPr algn="l">
              <a:buNone/>
              <a:defRPr sz="2025" b="0">
                <a:solidFill>
                  <a:srgbClr val="183153"/>
                </a:solidFill>
                <a:latin typeface="Arial"/>
                <a:ea typeface="Arial"/>
                <a:cs typeface="Arial"/>
              </a:defRPr>
            </a:lvl6pPr>
            <a:lvl7pPr algn="l">
              <a:buNone/>
              <a:defRPr sz="2025" b="0">
                <a:solidFill>
                  <a:srgbClr val="183153"/>
                </a:solidFill>
                <a:latin typeface="Arial"/>
                <a:ea typeface="Arial"/>
                <a:cs typeface="Arial"/>
              </a:defRPr>
            </a:lvl7pPr>
            <a:lvl8pPr algn="l">
              <a:buNone/>
              <a:defRPr sz="2025" b="0">
                <a:solidFill>
                  <a:srgbClr val="183153"/>
                </a:solidFill>
                <a:latin typeface="Arial"/>
                <a:ea typeface="Arial"/>
                <a:cs typeface="Arial"/>
              </a:defRPr>
            </a:lvl8pPr>
            <a:lvl9pPr algn="l">
              <a:buNone/>
              <a:defRPr sz="2025" b="0">
                <a:solidFill>
                  <a:srgbClr val="183153"/>
                </a:solidFill>
                <a:latin typeface="Arial"/>
                <a:ea typeface="Arial"/>
                <a:cs typeface="Arial"/>
              </a:defRPr>
            </a:lvl9pPr>
          </a:lstStyle>
          <a:p xmlns:a="http://schemas.openxmlformats.org/drawingml/2006/main">
            <a:pPr algn="l">
              <a:buNone/>
              <a:defRPr sz="1500" b="0">
                <a:solidFill>
                  <a:srgbClr val="526071"/>
                </a:solidFill>
                <a:latin typeface="Arial"/>
                <a:ea typeface="Arial"/>
                <a:cs typeface="Arial"/>
              </a:defRPr>
            </a:pPr>
            <a:r>
              <a:rPr sz="1500" b="0">
                <a:solidFill>
                  <a:srgbClr val="526071"/>
                </a:solidFill>
                <a:latin typeface="Arial"/>
                <a:ea typeface="Arial"/>
                <a:cs typeface="Arial"/>
              </a:rPr>
              <a:t>Complete-bipartite baseline. q=512, κ=λ=1, left ties. Each cell has 1024 trajectories.</a:t>
            </a:r>
          </a:p>
        </p:txBody>
      </p:sp>
      <p:sp>
        <p:nvSpPr>
          <p:cNvPr id="5" name="">
            <a:extLst xmlns:a="http://schemas.openxmlformats.org/drawingml/2006/main">
              <a:ext uri="{FF2B5EF4-FFF2-40B4-BE49-F238E27FC236}">
                <a16:creationId xmlns:a16="http://schemas.microsoft.com/office/drawing/2014/main" id="{62EF16F2-5D2C-43A3-8EFB-E1C9B575872C}"/>
              </a:ext>
            </a:extLst>
          </p:cNvPr>
          <p:cNvSpPr>
            <a:spLocks xmlns:a="http://schemas.openxmlformats.org/drawingml/2006/main" noGrp="1"/>
          </p:cNvSpPr>
          <p:nvPr/>
        </p:nvSpPr>
        <p:spPr>
          <a:xfrm xmlns:a="http://schemas.openxmlformats.org/drawingml/2006/main">
            <a:off x="609600" y="5829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0">
                <a:solidFill>
                  <a:srgbClr val="183153"/>
                </a:solidFill>
                <a:latin typeface="Arial"/>
                <a:ea typeface="Arial"/>
                <a:cs typeface="Arial"/>
              </a:defRPr>
            </a:defPPr>
            <a:lvl1pPr algn="l">
              <a:buNone/>
              <a:defRPr sz="2100" b="0">
                <a:solidFill>
                  <a:srgbClr val="183153"/>
                </a:solidFill>
                <a:latin typeface="Arial"/>
                <a:ea typeface="Arial"/>
                <a:cs typeface="Arial"/>
              </a:defRPr>
            </a:lvl1pPr>
            <a:lvl2pPr algn="l">
              <a:buNone/>
              <a:defRPr sz="2100" b="0">
                <a:solidFill>
                  <a:srgbClr val="183153"/>
                </a:solidFill>
                <a:latin typeface="Arial"/>
                <a:ea typeface="Arial"/>
                <a:cs typeface="Arial"/>
              </a:defRPr>
            </a:lvl2pPr>
            <a:lvl3pPr algn="l">
              <a:buNone/>
              <a:defRPr sz="2100" b="0">
                <a:solidFill>
                  <a:srgbClr val="183153"/>
                </a:solidFill>
                <a:latin typeface="Arial"/>
                <a:ea typeface="Arial"/>
                <a:cs typeface="Arial"/>
              </a:defRPr>
            </a:lvl3pPr>
            <a:lvl4pPr algn="l">
              <a:buNone/>
              <a:defRPr sz="2100" b="0">
                <a:solidFill>
                  <a:srgbClr val="183153"/>
                </a:solidFill>
                <a:latin typeface="Arial"/>
                <a:ea typeface="Arial"/>
                <a:cs typeface="Arial"/>
              </a:defRPr>
            </a:lvl4pPr>
            <a:lvl5pPr algn="l">
              <a:buNone/>
              <a:defRPr sz="2100" b="0">
                <a:solidFill>
                  <a:srgbClr val="183153"/>
                </a:solidFill>
                <a:latin typeface="Arial"/>
                <a:ea typeface="Arial"/>
                <a:cs typeface="Arial"/>
              </a:defRPr>
            </a:lvl5pPr>
            <a:lvl6pPr algn="l">
              <a:buNone/>
              <a:defRPr sz="2100" b="0">
                <a:solidFill>
                  <a:srgbClr val="183153"/>
                </a:solidFill>
                <a:latin typeface="Arial"/>
                <a:ea typeface="Arial"/>
                <a:cs typeface="Arial"/>
              </a:defRPr>
            </a:lvl6pPr>
            <a:lvl7pPr algn="l">
              <a:buNone/>
              <a:defRPr sz="2100" b="0">
                <a:solidFill>
                  <a:srgbClr val="183153"/>
                </a:solidFill>
                <a:latin typeface="Arial"/>
                <a:ea typeface="Arial"/>
                <a:cs typeface="Arial"/>
              </a:defRPr>
            </a:lvl7pPr>
            <a:lvl8pPr algn="l">
              <a:buNone/>
              <a:defRPr sz="2100" b="0">
                <a:solidFill>
                  <a:srgbClr val="183153"/>
                </a:solidFill>
                <a:latin typeface="Arial"/>
                <a:ea typeface="Arial"/>
                <a:cs typeface="Arial"/>
              </a:defRPr>
            </a:lvl8pPr>
            <a:lvl9pPr algn="l">
              <a:buNone/>
              <a:defRPr sz="2100" b="0">
                <a:solidFill>
                  <a:srgbClr val="183153"/>
                </a:solidFill>
                <a:latin typeface="Arial"/>
                <a:ea typeface="Arial"/>
                <a:cs typeface="Arial"/>
              </a:defRPr>
            </a:lvl9pPr>
          </a:lstStyle>
          <a:p xmlns:a="http://schemas.openxmlformats.org/drawingml/2006/main">
            <a:pPr algn="l">
              <a:buNone/>
              <a:defRPr sz="1950" b="0">
                <a:solidFill>
                  <a:srgbClr val="183153"/>
                </a:solidFill>
                <a:latin typeface="Arial"/>
                <a:ea typeface="Arial"/>
                <a:cs typeface="Arial"/>
              </a:defRPr>
            </a:pPr>
            <a:r>
              <a:rPr sz="1950" b="0">
                <a:solidFill>
                  <a:srgbClr val="183153"/>
                </a:solidFill>
                <a:latin typeface="Arial"/>
                <a:ea typeface="Arial"/>
                <a:cs typeface="Arial"/>
              </a:rPr>
              <a:t>Capacity monitoring can retain excess load and unused capacity together,</a:t>
            </a:r>
          </a:p>
          <a:p xmlns:a="http://schemas.openxmlformats.org/drawingml/2006/main">
            <a:pPr algn="l">
              <a:buNone/>
              <a:defRPr sz="1950" b="0">
                <a:solidFill>
                  <a:srgbClr val="183153"/>
                </a:solidFill>
                <a:latin typeface="Arial"/>
                <a:ea typeface="Arial"/>
                <a:cs typeface="Arial"/>
              </a:defRPr>
            </a:pPr>
            <a:r>
              <a:rPr sz="1950" b="0">
                <a:solidFill>
                  <a:srgbClr val="183153"/>
                </a:solidFill>
                <a:latin typeface="Arial"/>
                <a:ea typeface="Arial"/>
                <a:cs typeface="Arial"/>
              </a:rPr>
              <a:t>or preserve the bucket-load histogram.</a:t>
            </a:r>
          </a:p>
        </p:txBody>
      </p:sp>
    </p:spTree>
    <p:extLst>
      <p:ext uri="{BB962C8B-B14F-4D97-AF65-F5344CB8AC3E}">
        <p14:creationId xmlns:p14="http://schemas.microsoft.com/office/powerpoint/2010/main" val="2076028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2026-10-20T18:08:54.1900000Z</dcterms:created>
  <dcterms:modified xsi:type="dcterms:W3CDTF">2026-10-20T18:08:54.1900000Z</dcterms:modified>
</coreProperties>
</file>