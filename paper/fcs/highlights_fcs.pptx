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8b56fcf2cf4a26" /><Relationship Type="http://schemas.openxmlformats.org/officeDocument/2006/relationships/extended-properties" Target="/docProps/app.xml" Id="R4f27c04695ec4b39" /><Relationship Type="http://schemas.openxmlformats.org/officeDocument/2006/relationships/officeDocument" Target="/ppt/presentation.xml" Id="R35709eee8ed9439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9e1bcbd99c24a2f"/>
  </p:sldMasterIdLst>
  <p:notesMasterIdLst>
    <p:notesMasterId xmlns:r="http://schemas.openxmlformats.org/officeDocument/2006/relationships" r:id="R3e51a9c421d04c2f"/>
  </p:notesMasterIdLst>
  <p:sldIdLst>
    <p:sldId xmlns:r="http://schemas.openxmlformats.org/officeDocument/2006/relationships" id="256" r:id="R97efab627c35477c"/>
    <p:sldId xmlns:r="http://schemas.openxmlformats.org/officeDocument/2006/relationships" id="257" r:id="R582d36ec634f4287"/>
    <p:sldId xmlns:r="http://schemas.openxmlformats.org/officeDocument/2006/relationships" id="258" r:id="R053660a1519c420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eb26ed3dd444d8" /><Relationship Type="http://schemas.openxmlformats.org/officeDocument/2006/relationships/slideMaster" Target="/ppt/slideMasters/slideMaster1.xml" Id="R19e1bcbd99c24a2f" /><Relationship Type="http://schemas.openxmlformats.org/officeDocument/2006/relationships/notesMaster" Target="/ppt/notesMasters/notesMaster1.xml" Id="R3e51a9c421d04c2f" /><Relationship Type="http://schemas.openxmlformats.org/officeDocument/2006/relationships/presProps" Target="/ppt/presProps.xml" Id="R2114f894dc494e6c" /><Relationship Type="http://schemas.openxmlformats.org/officeDocument/2006/relationships/tableStyles" Target="/ppt/tableStyles.xml" Id="Rc107b35bc63d4986" /><Relationship Type="http://schemas.openxmlformats.org/officeDocument/2006/relationships/slide" Target="/ppt/slides/slide1.xml" Id="R97efab627c35477c" /><Relationship Type="http://schemas.openxmlformats.org/officeDocument/2006/relationships/slide" Target="/ppt/slides/slide2.xml" Id="R582d36ec634f4287" /><Relationship Type="http://schemas.openxmlformats.org/officeDocument/2006/relationships/slide" Target="/ppt/slides/slide3.xml" Id="R053660a1519c42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3a4a515ff445b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06cbc0bdd647ab" /><Relationship Type="http://schemas.openxmlformats.org/officeDocument/2006/relationships/notesMaster" Target="/ppt/notesMasters/notesMaster1.xml" Id="Rcba60bc0f13c47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6903fed325491f" /><Relationship Type="http://schemas.openxmlformats.org/officeDocument/2006/relationships/notesMaster" Target="/ppt/notesMasters/notesMaster1.xml" Id="R17b81d32320843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f4fb99b1274d87" /><Relationship Type="http://schemas.openxmlformats.org/officeDocument/2006/relationships/notesMaster" Target="/ppt/notesMasters/notesMaster1.xml" Id="Rf3e6f9261f5842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current manuscript, Model and main results; Fig. 2 (model_scales). Integer capacity satisfies 2c/q → κ &gt; 0. The figure is reproduced unchanged from the manuscript. Full title: Critical Overflow in Weakly Coupled Two-Choice Allocation.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current manuscript, Corollary 2.4, certified evaluation, and Fig. 1 (readout_teaser). For every finite d, S_0(d) &gt; |d|/2. The displayed finite-size comparison uses 4096 saved endpoints at q=512, κ=1, λ=1 with matching crosses. Both readouts use the same observed imbalance. This compares prediction errors, not allocation algorithms.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current manuscript, Theorems 2.1–2.3, Corollary 2.5, and Fig. 4 (kernel_universality). The theorem assumes εq → λ &lt; ∞, integer capacity 2c/q → κ &gt; 0, empty starts, complete-bipartite internal sampling, and left-favored ties. Kernels are predetermined and doubly stochastic. The conclusion does not cover adaptive kernels. Figure reproduced unchanged.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964a83782645c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982ffcd3da4b5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6b9f86cfe8426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1839530ced4d4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66885d206447a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e089d58f18442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65D3479-6823-4C7C-B0EB-32B8F471CD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D51B75C-D625-43AC-A7B2-1B344A4707D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2F071DB-A2EA-4654-BB5B-4A5A7CC2E5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73D63F-4CCB-4412-B33B-672AF4B8E8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E89D524-D06D-4B03-90B1-28D76707D8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2017F83-A805-4535-A6D2-D67AA2C9BA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354B80B-2238-477C-8027-D9D475EDDAB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3130B79-09A6-45EC-86C2-FA9A39C650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C1FCFB7-8E9F-462D-BB6E-ECD17E4AD6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1E2858-E7BB-47AE-A5EC-80DF8CD989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846d1750b1e4cf9" /><Relationship Type="http://schemas.openxmlformats.org/officeDocument/2006/relationships/slideLayout" Target="/ppt/slideLayouts/slideLayout1.xml" Id="R8720e4f230f64357" /><Relationship Type="http://schemas.openxmlformats.org/officeDocument/2006/relationships/slideLayout" Target="/ppt/slideLayouts/slideLayout2.xml" Id="R7b376f6ba15f43bb" /><Relationship Type="http://schemas.openxmlformats.org/officeDocument/2006/relationships/slideLayout" Target="/ppt/slideLayouts/slideLayout3.xml" Id="R15f6118837674532" /><Relationship Type="http://schemas.openxmlformats.org/officeDocument/2006/relationships/slideLayout" Target="/ppt/slideLayouts/slideLayout4.xml" Id="R78294596a6a244c0" /><Relationship Type="http://schemas.openxmlformats.org/officeDocument/2006/relationships/slideLayout" Target="/ppt/slideLayouts/slideLayout5.xml" Id="R2f28ad4b5f84424e" /><Relationship Type="http://schemas.openxmlformats.org/officeDocument/2006/relationships/slideLayout" Target="/ppt/slideLayouts/slideLayout6.xml" Id="R03e62a7dcc194d6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20e4f230f64357"/>
    <p:sldLayoutId xmlns:r="http://schemas.openxmlformats.org/officeDocument/2006/relationships" id="2147483650" r:id="R7b376f6ba15f43bb"/>
    <p:sldLayoutId xmlns:r="http://schemas.openxmlformats.org/officeDocument/2006/relationships" id="2147483651" r:id="R15f6118837674532"/>
    <p:sldLayoutId xmlns:r="http://schemas.openxmlformats.org/officeDocument/2006/relationships" id="2147483652" r:id="R78294596a6a244c0"/>
    <p:sldLayoutId xmlns:r="http://schemas.openxmlformats.org/officeDocument/2006/relationships" id="2147483653" r:id="R2f28ad4b5f84424e"/>
    <p:sldLayoutId xmlns:r="http://schemas.openxmlformats.org/officeDocument/2006/relationships" id="2147483654" r:id="R03e62a7dcc194d6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614b882c614750" /><Relationship Type="http://schemas.openxmlformats.org/officeDocument/2006/relationships/image" Target="/ppt/media/image.png" Id="R2594b9e191d54d12" /><Relationship Type="http://schemas.openxmlformats.org/officeDocument/2006/relationships/notesSlide" Target="/ppt/notesSlides/notesSlide1.xml" Id="R4e60034dedf54c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118c2a72fe4325" /><Relationship Type="http://schemas.openxmlformats.org/officeDocument/2006/relationships/image" Target="/ppt/media/image2.png" Id="R44ce0f9eccfa4819" /><Relationship Type="http://schemas.openxmlformats.org/officeDocument/2006/relationships/notesSlide" Target="/ppt/notesSlides/notesSlide2.xml" Id="R04da0911cafb420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99dcca4f0549c2" /><Relationship Type="http://schemas.openxmlformats.org/officeDocument/2006/relationships/image" Target="/ppt/media/image3.png" Id="R5b1db343f4b34baf" /><Relationship Type="http://schemas.openxmlformats.org/officeDocument/2006/relationships/notesSlide" Target="/ppt/notesSlides/notesSlide3.xml" Id="R8de34a7ad24445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90371E-E311-4BDF-8ABF-37C47415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153"/>
                </a:solidFill>
                <a:latin typeface="Arial"/>
                <a:ea typeface="Arial"/>
                <a:cs typeface="Arial"/>
              </a:rPr>
              <a:t>Critical overflow in two-choice allocation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A62622-D023-4BF1-915E-25DF03B8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071"/>
                </a:solidFill>
                <a:latin typeface="Arial"/>
                <a:ea typeface="Arial"/>
                <a:cs typeface="Arial"/>
              </a:rPr>
              <a:t>Silas Lu · Hongyi Dong · Xiaofeng Yu · Jin Shi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D246F4-ACE7-4409-9F93-9225518C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153"/>
                </a:solidFill>
                <a:latin typeface="Arial"/>
                <a:ea typeface="Arial"/>
                <a:cs typeface="Arial"/>
              </a:rPr>
              <a:t>How many items exceed bucket capacity as two weakly coupled communities fill?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015128-9943-4776-AB36-8D65E0D92A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94b9e191d54d12"/>
          <a:stretch xmlns:a="http://schemas.openxmlformats.org/drawingml/2006/main"/>
        </p:blipFill>
        <p:spPr>
          <a:xfrm xmlns:a="http://schemas.openxmlformats.org/drawingml/2006/main">
            <a:off x="749222" y="2476500"/>
            <a:ext cx="6864506" cy="3143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9D6525-9C39-41A7-AF99-2148E486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33650"/>
            <a:ext cx="34290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153"/>
                </a:solidFill>
                <a:latin typeface="Arial"/>
                <a:ea typeface="Arial"/>
                <a:cs typeface="Arial"/>
              </a:rPr>
              <a:t>Two communities, q buckets each.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153"/>
                </a:solidFill>
                <a:latin typeface="Arial"/>
                <a:ea typeface="Arial"/>
                <a:cs typeface="Arial"/>
              </a:rPr>
              <a:t>Choose the less loaded candidate.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153"/>
                </a:solidFill>
                <a:latin typeface="Arial"/>
                <a:ea typeface="Arial"/>
                <a:cs typeface="Arial"/>
              </a:rPr>
              <a:t>At critical fill: n* = 2qc.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153"/>
                </a:solidFill>
                <a:latin typeface="Arial"/>
                <a:ea typeface="Arial"/>
                <a:cs typeface="Arial"/>
              </a:rPr>
              <a:t>Weak coupling: εq → λ &lt; ∞.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7062C7-CD76-44C4-A396-14DBDF154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10972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26071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071"/>
                </a:solidFill>
                <a:latin typeface="Arial"/>
                <a:ea typeface="Arial"/>
                <a:cs typeface="Arial"/>
              </a:rPr>
              <a:t>Model: uniform internal bipartite sampling, fixed cross kernels with uniform marginals, left-favored ties, empty start.</a:t>
            </a:r>
          </a:p>
        </p:txBody>
      </p:sp>
    </p:spTree>
    <p:extLst>
      <p:ext uri="{BB962C8B-B14F-4D97-AF65-F5344CB8AC3E}">
        <p14:creationId xmlns:p14="http://schemas.microsoft.com/office/powerpoint/2010/main" val="5862702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EFB4DA-3EC4-4787-AA42-C33934B9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153"/>
                </a:solidFill>
                <a:latin typeface="Arial"/>
                <a:ea typeface="Arial"/>
                <a:cs typeface="Arial"/>
              </a:rPr>
              <a:t>Community totals miss internal overflow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C6490F-E14A-43C4-951B-AD480929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4777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153"/>
                </a:solidFill>
                <a:latin typeface="Arial"/>
                <a:ea typeface="Arial"/>
                <a:cs typeface="Arial"/>
              </a:rPr>
              <a:t>The internal load profile adds a strictly positive order-q contribution at nominal capacity.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7BAC71-EAC5-4E74-ADA4-0550B050DF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ce0f9eccfa4819"/>
          <a:stretch xmlns:a="http://schemas.openxmlformats.org/drawingml/2006/main"/>
        </p:blipFill>
        <p:spPr>
          <a:xfrm xmlns:a="http://schemas.openxmlformats.org/drawingml/2006/main">
            <a:off x="1789442" y="2095500"/>
            <a:ext cx="8613117" cy="3333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C5640E-4410-479E-952C-4CEF5D747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3153"/>
                </a:solidFill>
                <a:latin typeface="Arial"/>
                <a:ea typeface="Arial"/>
                <a:cs typeface="Arial"/>
              </a:rPr>
              <a:t>Even at zero normalized imbalance, the limiting overflow coefficient lies in [0.63127654, 0.63129462].</a:t>
            </a:r>
          </a:p>
        </p:txBody>
      </p:sp>
    </p:spTree>
    <p:extLst>
      <p:ext uri="{BB962C8B-B14F-4D97-AF65-F5344CB8AC3E}">
        <p14:creationId xmlns:p14="http://schemas.microsoft.com/office/powerpoint/2010/main" val="11380338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107741-AF88-4CC2-92F2-A8C9AC7C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8315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83153"/>
                </a:solidFill>
                <a:latin typeface="Arial"/>
                <a:ea typeface="Arial"/>
                <a:cs typeface="Arial"/>
              </a:rPr>
              <a:t>Fixed cross kernels share the critical law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D7C080-6F1E-4C6F-842B-96B518DB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153"/>
                </a:solidFill>
                <a:latin typeface="Arial"/>
                <a:ea typeface="Arial"/>
                <a:cs typeface="Arial"/>
              </a:rPr>
              <a:t>A process coupling transfers the leading overflow law from product sampling to all admissible fixed kernels.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1FCE08-B658-4C1D-9153-5F7C27146B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1db343f4b34baf"/>
          <a:stretch xmlns:a="http://schemas.openxmlformats.org/drawingml/2006/main"/>
        </p:blipFill>
        <p:spPr>
          <a:xfrm xmlns:a="http://schemas.openxmlformats.org/drawingml/2006/main">
            <a:off x="609600" y="2544861"/>
            <a:ext cx="5953125" cy="254932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54D8D3-9DF4-452E-84F5-484B25BE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62200"/>
            <a:ext cx="44577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153"/>
                </a:solidFill>
                <a:latin typeface="Arial"/>
                <a:ea typeface="Arial"/>
                <a:cs typeface="Arial"/>
              </a:rPr>
              <a:t>A scalar diffusion describes imbalance.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153"/>
                </a:solidFill>
                <a:latin typeface="Arial"/>
                <a:ea typeface="Arial"/>
                <a:cs typeface="Arial"/>
              </a:rPr>
              <a:t>The diffusion drift averages the lattice phase.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153"/>
                </a:solidFill>
                <a:latin typeface="Arial"/>
                <a:ea typeface="Arial"/>
                <a:cs typeface="Arial"/>
              </a:rPr>
              <a:t>Overflow retains the internal profile and observation phase.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EF16F2-5D2C-43A3-8EFB-E1C9B575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8315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153"/>
                </a:solidFill>
                <a:latin typeface="Arial"/>
                <a:ea typeface="Arial"/>
                <a:cs typeface="Arial"/>
              </a:rPr>
              <a:t>At nominal capacity: expected overflow is order q, while its fraction of arrivals tends to zero.</a:t>
            </a:r>
          </a:p>
        </p:txBody>
      </p:sp>
    </p:spTree>
    <p:extLst>
      <p:ext uri="{BB962C8B-B14F-4D97-AF65-F5344CB8AC3E}">
        <p14:creationId xmlns:p14="http://schemas.microsoft.com/office/powerpoint/2010/main" val="20760287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2026-10-20T11:14:21.9550000Z</dcterms:created>
  <dcterms:modified xsi:type="dcterms:W3CDTF">2026-10-20T11:14:21.9550000Z</dcterms:modified>
</coreProperties>
</file>